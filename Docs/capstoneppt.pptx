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IwfTZBXrcsrJAuzxv17Q+EO9o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076"/>
              <a:buFont typeface="Play"/>
              <a:buNone/>
            </a:pPr>
            <a:r>
              <a:rPr lang="en-US" sz="7222"/>
              <a:t>Capstone Project </a:t>
            </a:r>
            <a:endParaRPr sz="7222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076"/>
              <a:buFont typeface="Play"/>
              <a:buNone/>
            </a:pPr>
            <a:r>
              <a:rPr lang="en-US" sz="7222"/>
              <a:t>CE-11 Group 4</a:t>
            </a:r>
            <a:endParaRPr sz="7222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Card-Based Payment System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50"/>
            <a:ext cx="9916200" cy="25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000"/>
              <a:t>27 December 2025</a:t>
            </a:r>
            <a:endParaRPr sz="3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/>
              <a:t>Team Members:</a:t>
            </a:r>
            <a:endParaRPr i="1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Ryan Nguyen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Marlon Prudencio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Sridhar Maroju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Sreedevi Voruganri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Project Objectives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1144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Build a secure application using AWS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Implement DevOps and CI/CD Pipeline with Infrastructure as Code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Card-Based Payment System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Back-end by AWS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Create Profile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Add card to profile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Top-up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Deduct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View card transactions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Front-end by Angular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System Architecture</a:t>
            </a:r>
            <a:endParaRPr/>
          </a:p>
        </p:txBody>
      </p:sp>
      <p:pic>
        <p:nvPicPr>
          <p:cNvPr descr="Overal Architecture" id="103" name="Google Shape;10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943" y="1477275"/>
            <a:ext cx="8741228" cy="5128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CI/CD Pipeline (DevOps)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 branches (long live) for GitHub Repo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Main branch for Production Environment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Dev branch for Development Environment</a:t>
            </a:r>
            <a:endParaRPr/>
          </a:p>
          <a:p>
            <a:pPr indent="-21716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Using Terraform Workspace to create AWS resources and manage the environments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Main and Dev branches in the main repo are protected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Changes introduced by pull requests for code review before merge to base branch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 Github Workflows:</a:t>
            </a:r>
            <a:endParaRPr/>
          </a:p>
          <a:p>
            <a:pPr indent="-278765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en-US"/>
              <a:t>CI runs on push and pull requests</a:t>
            </a:r>
            <a:endParaRPr/>
          </a:p>
          <a:p>
            <a:pPr indent="-278765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en-US"/>
              <a:t>CD runs on </a:t>
            </a:r>
            <a:r>
              <a:rPr i="1" lang="en-US"/>
              <a:t>“workflow_dispatch”</a:t>
            </a:r>
            <a:endParaRPr/>
          </a:p>
          <a:p>
            <a:pPr indent="-278765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en-US"/>
              <a:t>DESTROY runs on </a:t>
            </a:r>
            <a:r>
              <a:rPr i="1" lang="en-US"/>
              <a:t>“workflow_dispatch”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CI/CD Pipeline (DevOps) - cont’d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9025953" y="1976080"/>
            <a:ext cx="876900" cy="363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Run CD Workflow to deploy to Prod</a:t>
            </a:r>
            <a:endParaRPr sz="800"/>
          </a:p>
        </p:txBody>
      </p:sp>
      <p:sp>
        <p:nvSpPr>
          <p:cNvPr id="116" name="Google Shape;116;p6"/>
          <p:cNvSpPr/>
          <p:nvPr/>
        </p:nvSpPr>
        <p:spPr>
          <a:xfrm>
            <a:off x="7511843" y="2624545"/>
            <a:ext cx="1250700" cy="3739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5972930" y="4838220"/>
            <a:ext cx="1250700" cy="153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" name="Google Shape;118;p6"/>
          <p:cNvCxnSpPr/>
          <p:nvPr/>
        </p:nvCxnSpPr>
        <p:spPr>
          <a:xfrm rot="10800000">
            <a:off x="8392932" y="2990713"/>
            <a:ext cx="13200" cy="190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6"/>
          <p:cNvCxnSpPr/>
          <p:nvPr/>
        </p:nvCxnSpPr>
        <p:spPr>
          <a:xfrm rot="10800000">
            <a:off x="7948871" y="2995570"/>
            <a:ext cx="46500" cy="1947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6"/>
          <p:cNvSpPr txBox="1"/>
          <p:nvPr/>
        </p:nvSpPr>
        <p:spPr>
          <a:xfrm>
            <a:off x="1552470" y="1591520"/>
            <a:ext cx="2822100" cy="17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rgbClr val="595959"/>
                </a:solidFill>
              </a:rPr>
              <a:t>Main Repository</a:t>
            </a:r>
            <a:r>
              <a:rPr b="1" lang="en-US" sz="1600">
                <a:solidFill>
                  <a:srgbClr val="595959"/>
                </a:solidFill>
              </a:rPr>
              <a:t>: </a:t>
            </a:r>
            <a:endParaRPr b="1"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</a:rPr>
              <a:t>RyanNguyen1808/CapstoneProject_Group4_Infra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595959"/>
              </a:solidFill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017245" y="2343443"/>
            <a:ext cx="1558500" cy="281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 (Prod)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2017245" y="2908521"/>
            <a:ext cx="1558500" cy="281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 (Stage)</a:t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1571875" y="3329820"/>
            <a:ext cx="28221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rgbClr val="595959"/>
                </a:solidFill>
              </a:rPr>
              <a:t>Development Repositories</a:t>
            </a:r>
            <a:endParaRPr b="1" sz="1600" u="sng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</a:rPr>
              <a:t>MPrudencio33 / CapstoneProject_Group4_Infra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</a:rPr>
              <a:t>Sreedevi123i / CapstoneProject_Group4_Infra</a:t>
            </a:r>
            <a:endParaRPr sz="9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95959"/>
                </a:solidFill>
              </a:rPr>
              <a:t>sridharmaroju / CapstoneProject_Group4_Infra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2017245" y="4786919"/>
            <a:ext cx="1558500" cy="281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</a:t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2017245" y="5519149"/>
            <a:ext cx="1558500" cy="281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feature 1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2017245" y="6108324"/>
            <a:ext cx="1558500" cy="281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feature 2</a:t>
            </a:r>
            <a:endParaRPr/>
          </a:p>
        </p:txBody>
      </p:sp>
      <p:cxnSp>
        <p:nvCxnSpPr>
          <p:cNvPr id="127" name="Google Shape;127;p6"/>
          <p:cNvCxnSpPr/>
          <p:nvPr/>
        </p:nvCxnSpPr>
        <p:spPr>
          <a:xfrm flipH="1" rot="10800000">
            <a:off x="4415601" y="4907366"/>
            <a:ext cx="6099600" cy="40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6"/>
          <p:cNvCxnSpPr/>
          <p:nvPr/>
        </p:nvCxnSpPr>
        <p:spPr>
          <a:xfrm flipH="1" rot="10800000">
            <a:off x="4427294" y="5593232"/>
            <a:ext cx="6099600" cy="40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6"/>
          <p:cNvCxnSpPr/>
          <p:nvPr/>
        </p:nvCxnSpPr>
        <p:spPr>
          <a:xfrm flipH="1" rot="10800000">
            <a:off x="4448832" y="6248901"/>
            <a:ext cx="6099600" cy="40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6"/>
          <p:cNvSpPr/>
          <p:nvPr/>
        </p:nvSpPr>
        <p:spPr>
          <a:xfrm>
            <a:off x="2017245" y="4270158"/>
            <a:ext cx="1558500" cy="2811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Main (Dev)</a:t>
            </a:r>
            <a:endParaRPr/>
          </a:p>
        </p:txBody>
      </p:sp>
      <p:cxnSp>
        <p:nvCxnSpPr>
          <p:cNvPr id="131" name="Google Shape;131;p6"/>
          <p:cNvCxnSpPr/>
          <p:nvPr/>
        </p:nvCxnSpPr>
        <p:spPr>
          <a:xfrm>
            <a:off x="6346637" y="4955170"/>
            <a:ext cx="14700" cy="676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6"/>
          <p:cNvCxnSpPr/>
          <p:nvPr/>
        </p:nvCxnSpPr>
        <p:spPr>
          <a:xfrm>
            <a:off x="6776358" y="4963433"/>
            <a:ext cx="41400" cy="1269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3" name="Google Shape;133;p6"/>
          <p:cNvGrpSpPr/>
          <p:nvPr/>
        </p:nvGrpSpPr>
        <p:grpSpPr>
          <a:xfrm>
            <a:off x="4850015" y="2343441"/>
            <a:ext cx="1032600" cy="2566800"/>
            <a:chOff x="3441785" y="823396"/>
            <a:chExt cx="1032600" cy="2566800"/>
          </a:xfrm>
        </p:grpSpPr>
        <p:sp>
          <p:nvSpPr>
            <p:cNvPr id="134" name="Google Shape;134;p6"/>
            <p:cNvSpPr/>
            <p:nvPr/>
          </p:nvSpPr>
          <p:spPr>
            <a:xfrm>
              <a:off x="3441785" y="823396"/>
              <a:ext cx="1032600" cy="2566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5" name="Google Shape;135;p6"/>
            <p:cNvCxnSpPr/>
            <p:nvPr/>
          </p:nvCxnSpPr>
          <p:spPr>
            <a:xfrm>
              <a:off x="3732757" y="947896"/>
              <a:ext cx="1200" cy="18675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6" name="Google Shape;136;p6"/>
            <p:cNvCxnSpPr/>
            <p:nvPr/>
          </p:nvCxnSpPr>
          <p:spPr>
            <a:xfrm>
              <a:off x="4057507" y="1426546"/>
              <a:ext cx="18600" cy="1957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7" name="Google Shape;137;p6"/>
            <p:cNvSpPr/>
            <p:nvPr/>
          </p:nvSpPr>
          <p:spPr>
            <a:xfrm>
              <a:off x="3519632" y="1777350"/>
              <a:ext cx="876900" cy="3636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/>
                <a:t>fork</a:t>
              </a:r>
              <a:endParaRPr sz="1200"/>
            </a:p>
          </p:txBody>
        </p:sp>
      </p:grpSp>
      <p:sp>
        <p:nvSpPr>
          <p:cNvPr id="138" name="Google Shape;138;p6"/>
          <p:cNvSpPr/>
          <p:nvPr/>
        </p:nvSpPr>
        <p:spPr>
          <a:xfrm>
            <a:off x="4927862" y="3768670"/>
            <a:ext cx="876900" cy="363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sync fork</a:t>
            </a:r>
            <a:endParaRPr sz="1200"/>
          </a:p>
        </p:txBody>
      </p:sp>
      <p:sp>
        <p:nvSpPr>
          <p:cNvPr id="139" name="Google Shape;139;p6"/>
          <p:cNvSpPr/>
          <p:nvPr/>
        </p:nvSpPr>
        <p:spPr>
          <a:xfrm>
            <a:off x="6026852" y="5166379"/>
            <a:ext cx="659100" cy="250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branch</a:t>
            </a:r>
            <a:endParaRPr sz="1200"/>
          </a:p>
        </p:txBody>
      </p:sp>
      <p:cxnSp>
        <p:nvCxnSpPr>
          <p:cNvPr id="140" name="Google Shape;140;p6"/>
          <p:cNvCxnSpPr/>
          <p:nvPr/>
        </p:nvCxnSpPr>
        <p:spPr>
          <a:xfrm flipH="1" rot="10800000">
            <a:off x="4387237" y="2953371"/>
            <a:ext cx="6099600" cy="40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6"/>
          <p:cNvCxnSpPr/>
          <p:nvPr/>
        </p:nvCxnSpPr>
        <p:spPr>
          <a:xfrm flipH="1" rot="10800000">
            <a:off x="4387237" y="2434143"/>
            <a:ext cx="6099600" cy="40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6"/>
          <p:cNvCxnSpPr/>
          <p:nvPr/>
        </p:nvCxnSpPr>
        <p:spPr>
          <a:xfrm flipH="1" rot="10800000">
            <a:off x="4438987" y="4330213"/>
            <a:ext cx="6099600" cy="40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6"/>
          <p:cNvSpPr/>
          <p:nvPr/>
        </p:nvSpPr>
        <p:spPr>
          <a:xfrm>
            <a:off x="6502589" y="5815766"/>
            <a:ext cx="659100" cy="250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branch</a:t>
            </a:r>
            <a:endParaRPr sz="1200"/>
          </a:p>
        </p:txBody>
      </p:sp>
      <p:cxnSp>
        <p:nvCxnSpPr>
          <p:cNvPr id="144" name="Google Shape;144;p6"/>
          <p:cNvCxnSpPr/>
          <p:nvPr/>
        </p:nvCxnSpPr>
        <p:spPr>
          <a:xfrm rot="10800000">
            <a:off x="8404599" y="4955195"/>
            <a:ext cx="35100" cy="1286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6"/>
          <p:cNvCxnSpPr/>
          <p:nvPr/>
        </p:nvCxnSpPr>
        <p:spPr>
          <a:xfrm rot="10800000">
            <a:off x="7983570" y="4966245"/>
            <a:ext cx="23700" cy="621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6"/>
          <p:cNvSpPr/>
          <p:nvPr/>
        </p:nvSpPr>
        <p:spPr>
          <a:xfrm>
            <a:off x="7673338" y="5145004"/>
            <a:ext cx="659100" cy="250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push</a:t>
            </a:r>
            <a:endParaRPr sz="1200"/>
          </a:p>
        </p:txBody>
      </p:sp>
      <p:sp>
        <p:nvSpPr>
          <p:cNvPr id="147" name="Google Shape;147;p6"/>
          <p:cNvSpPr/>
          <p:nvPr/>
        </p:nvSpPr>
        <p:spPr>
          <a:xfrm>
            <a:off x="7917220" y="5815766"/>
            <a:ext cx="659100" cy="250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push</a:t>
            </a:r>
            <a:endParaRPr sz="1200"/>
          </a:p>
        </p:txBody>
      </p:sp>
      <p:sp>
        <p:nvSpPr>
          <p:cNvPr id="148" name="Google Shape;148;p6"/>
          <p:cNvSpPr/>
          <p:nvPr/>
        </p:nvSpPr>
        <p:spPr>
          <a:xfrm>
            <a:off x="7745513" y="4644013"/>
            <a:ext cx="876900" cy="250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Pull request,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Merge</a:t>
            </a:r>
            <a:endParaRPr sz="900"/>
          </a:p>
        </p:txBody>
      </p:sp>
      <p:sp>
        <p:nvSpPr>
          <p:cNvPr id="149" name="Google Shape;149;p6"/>
          <p:cNvSpPr/>
          <p:nvPr/>
        </p:nvSpPr>
        <p:spPr>
          <a:xfrm>
            <a:off x="7687874" y="2700563"/>
            <a:ext cx="876900" cy="250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Pull request,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Merge</a:t>
            </a:r>
            <a:endParaRPr sz="900"/>
          </a:p>
        </p:txBody>
      </p:sp>
      <p:cxnSp>
        <p:nvCxnSpPr>
          <p:cNvPr id="150" name="Google Shape;150;p6"/>
          <p:cNvCxnSpPr/>
          <p:nvPr/>
        </p:nvCxnSpPr>
        <p:spPr>
          <a:xfrm rot="10800000">
            <a:off x="9468681" y="2464520"/>
            <a:ext cx="11700" cy="526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6"/>
          <p:cNvSpPr/>
          <p:nvPr/>
        </p:nvSpPr>
        <p:spPr>
          <a:xfrm>
            <a:off x="9071169" y="2625600"/>
            <a:ext cx="876900" cy="250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Merge</a:t>
            </a:r>
            <a:endParaRPr sz="1200"/>
          </a:p>
        </p:txBody>
      </p:sp>
      <p:sp>
        <p:nvSpPr>
          <p:cNvPr id="152" name="Google Shape;152;p6"/>
          <p:cNvSpPr/>
          <p:nvPr/>
        </p:nvSpPr>
        <p:spPr>
          <a:xfrm>
            <a:off x="7602273" y="3536504"/>
            <a:ext cx="659100" cy="250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push</a:t>
            </a:r>
            <a:endParaRPr sz="1200"/>
          </a:p>
        </p:txBody>
      </p:sp>
      <p:sp>
        <p:nvSpPr>
          <p:cNvPr id="153" name="Google Shape;153;p6"/>
          <p:cNvSpPr/>
          <p:nvPr/>
        </p:nvSpPr>
        <p:spPr>
          <a:xfrm>
            <a:off x="8041051" y="3914991"/>
            <a:ext cx="659100" cy="2508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push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CI/CD Pipeline (DevOps) - cont’d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1027650" y="2177400"/>
            <a:ext cx="8520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595959"/>
                </a:solidFill>
              </a:rPr>
              <a:t>New Feature: Include a column ‘Balance’ in the display of Transaction History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1027658" y="140212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</a:rPr>
              <a:t>Illustration of deployment from dev to prod</a:t>
            </a:r>
            <a:endParaRPr i="1" sz="2800">
              <a:solidFill>
                <a:srgbClr val="000000"/>
              </a:solidFill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184875" y="2832676"/>
            <a:ext cx="4318200" cy="374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Steps: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/>
              <a:t>In the development environment / repository (created by forking from the main (upstream) repository):</a:t>
            </a:r>
            <a:endParaRPr sz="10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153499" lvl="0" marL="179999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/>
              <a:t>Create a new branch from the dev branch in the dev (“origin”) repo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$ git checkout -b feature/balance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153499" lvl="0" marL="179999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/>
              <a:t>Push the feature/balance to the origin repo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$ git add .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$ git commit -m “add feature/balance branch”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$ git push origin feature/balance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153499" lvl="0" marL="179999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/>
              <a:t>In the development repo in Github, run the CD workflow for the feature/balance branch. This will create the resources (for the development environment) in AWS.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153499" lvl="0" marL="179999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/>
              <a:t>Using the AWS Console, open the lambda function ce11-capstone-group4-get-TransHist-api-sandbox-mprudencio33</a:t>
            </a:r>
            <a:endParaRPr sz="1000"/>
          </a:p>
          <a:p>
            <a:pPr indent="0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153499" lvl="0" marL="179999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/>
              <a:t>In the Code Source, update the SQL statement to get the Balance from CARDS table by joining to the TRANSACTIONS table using the CARD_ID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63" name="Google Shape;163;p7"/>
          <p:cNvSpPr/>
          <p:nvPr/>
        </p:nvSpPr>
        <p:spPr>
          <a:xfrm>
            <a:off x="5943600" y="2832675"/>
            <a:ext cx="4318200" cy="374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Steps cont’d: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6. Push the feature/balance branch to the origin repository.. 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7. Create a Pull Request for the dev branch in the origin repository,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    review the changes and then do a merge of the dev branch to the 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    main branch.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8. Run the CD workflow for the Main branch.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9. Go the application portal and go to the Transaction History menu/tab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    and enter a valid card id to see if the Balance value is now displayed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    for each of the transactions.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000000"/>
                </a:solidFill>
              </a:rPr>
              <a:t>In the production environment / repository:</a:t>
            </a:r>
            <a:endParaRPr sz="1000" u="sng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10. Create a pull request for the dev branch, review the changes and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      then do a merge of the dev branch to the main branch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12. Run the CD workflow for the ‘main’ branch to deploy the new 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</a:rPr>
              <a:t>      feature in production environment. 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Enhancements</a:t>
            </a:r>
            <a:endParaRPr/>
          </a:p>
        </p:txBody>
      </p:sp>
      <p:sp>
        <p:nvSpPr>
          <p:cNvPr id="169" name="Google Shape;16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Move to Aurora to achieve Serverless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Deploy into 2 separate regions (Active – Passive) to increase Fault Tolerance and High Availability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Add notification when SQS Messages not successfully processed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